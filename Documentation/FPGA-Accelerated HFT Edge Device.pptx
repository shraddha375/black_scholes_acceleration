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Libre Franklin"/>
      <p:regular r:id="rId18"/>
      <p:bold r:id="rId19"/>
      <p:italic r:id="rId20"/>
      <p:boldItalic r:id="rId21"/>
    </p:embeddedFont>
    <p:embeddedFont>
      <p:font typeface="Libre Franklin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80">
          <p15:clr>
            <a:srgbClr val="A4A3A4"/>
          </p15:clr>
        </p15:guide>
        <p15:guide id="2" pos="3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50563F-FA20-4914-BAE5-F9058F915887}">
  <a:tblStyle styleId="{E350563F-FA20-4914-BAE5-F9058F915887}" styleName="Table_0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6F3EE"/>
          </a:solidFill>
        </a:fill>
      </a:tcStyle>
    </a:wholeTbl>
    <a:band1H>
      <a:tcTxStyle/>
      <a:tcStyle>
        <a:fill>
          <a:solidFill>
            <a:srgbClr val="EDE6DB"/>
          </a:solidFill>
        </a:fill>
      </a:tcStyle>
    </a:band1H>
    <a:band2H>
      <a:tcTxStyle/>
    </a:band2H>
    <a:band1V>
      <a:tcTxStyle/>
      <a:tcStyle>
        <a:fill>
          <a:solidFill>
            <a:srgbClr val="EDE6DB"/>
          </a:solidFill>
        </a:fill>
      </a:tcStyle>
    </a:band1V>
    <a:band2V>
      <a:tcTxStyle/>
    </a:band2V>
    <a:la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Franklin Gothic Book"/>
          <a:ea typeface="Franklin Gothic Book"/>
          <a:cs typeface="Franklin Gothic Book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80" orient="horz"/>
        <p:guide pos="31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Franklin-italic.fntdata"/><Relationship Id="rId22" Type="http://schemas.openxmlformats.org/officeDocument/2006/relationships/font" Target="fonts/LibreFranklinMedium-regular.fntdata"/><Relationship Id="rId21" Type="http://schemas.openxmlformats.org/officeDocument/2006/relationships/font" Target="fonts/LibreFranklin-boldItalic.fntdata"/><Relationship Id="rId24" Type="http://schemas.openxmlformats.org/officeDocument/2006/relationships/font" Target="fonts/LibreFranklinMedium-italic.fntdata"/><Relationship Id="rId23" Type="http://schemas.openxmlformats.org/officeDocument/2006/relationships/font" Target="fonts/LibreFranklin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ibreFranklin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LibreFranklin-bold.fntdata"/><Relationship Id="rId18" Type="http://schemas.openxmlformats.org/officeDocument/2006/relationships/font" Target="fonts/LibreFrankli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2df59e94b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52df59e94b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2df59e94b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52df59e94b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52df59e94b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52df59e94b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2df59e94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52df59e94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2df59e94b_1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2df59e94b_1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RTL = Hardware "Blueprint"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➡ Written in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HDL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(Hardware Description Languages) like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SystemVerilog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VHDL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➡ Synthesized into actual FPGA hardware structures: LUTs, DSP blocks, Flip-Flops, etc.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Describes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how data flows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between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registers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combinational logic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that processes it.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Specifies: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Data operations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(add, multiply, divide, etc.)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Control flow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(if, case, etc.)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Timing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(clocked or combinational)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Here’s a high-level view of how an RTL design gets implemented on an FPGA.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We start with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RTL code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typically written in languages like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SystemVerilog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VHDL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At this level, we describe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what operations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should happen — for example, additions, multiplications, divisions — and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how data flows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between these operations. We also specify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control flow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and, if desired,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timing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This RTL code is then passed to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logic synthesis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toolchain — for example, Vivado for Xilinx FPGAs.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r>
              <a:rPr lang="en-US" sz="1100">
                <a:latin typeface="Arial"/>
                <a:ea typeface="Arial"/>
                <a:cs typeface="Arial"/>
                <a:sym typeface="Arial"/>
              </a:rPr>
              <a:t> Synthesis converts our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abstract RTL description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into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concrete digital hardware structures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These include: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LUTs (Look-Up Tables)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which implement combinational logic,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DSP blocks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which efficiently perform arithmetic operations like multiplication and addition,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Flip-Flops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which store data and synchronize operations in clocked designs.</a:t>
            </a: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After synthesis, the hardware structures are mapped onto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FPGA fabric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— the physical silicon area where the design will actually run.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So, in summary, RTL serves as the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blueprint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for designing digital hardware that will be physically implemented using the FPGA’s configurable resources.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By using RTL instead of high-level synthesis or software, we gain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full control over how computations are implemented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, allowing us to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optimize for performance, latency, and resource utilization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52df59e94b_1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2df59e94b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52df59e94b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52df59e94b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52df59e94b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52df59e94b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52df59e94b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2df59e94b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52df59e94b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Black">
  <p:cSld name="Title Slide - Black">
    <p:bg>
      <p:bgPr>
        <a:solidFill>
          <a:schemeClr val="dk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rdue Logo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7077" y="5756157"/>
            <a:ext cx="2709200" cy="484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6800" y="0"/>
            <a:ext cx="2235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9954706" y="-9439"/>
            <a:ext cx="2246721" cy="6867440"/>
          </a:xfrm>
          <a:custGeom>
            <a:rect b="b" l="l" r="r" t="t"/>
            <a:pathLst>
              <a:path extrusionOk="0" h="6872149" w="2243566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1023257" y="2005070"/>
            <a:ext cx="7763458" cy="5928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sz="54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1023257" y="2629338"/>
            <a:ext cx="7763458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1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2" type="body"/>
          </p:nvPr>
        </p:nvSpPr>
        <p:spPr>
          <a:xfrm>
            <a:off x="1023257" y="3107129"/>
            <a:ext cx="7763458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  <a:defRPr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with Photo">
  <p:cSld name="Title Slide with Phot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478972" y="4671391"/>
            <a:ext cx="11266714" cy="1401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478972" y="6085510"/>
            <a:ext cx="11266714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- 3 Blocks - Black">
  <p:cSld name="Comparison - 3 Blocks - Blac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7938475" y="1315894"/>
            <a:ext cx="3319531" cy="451326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420956" y="1315895"/>
            <a:ext cx="3319531" cy="451326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903437" y="1315896"/>
            <a:ext cx="3319531" cy="451326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03506" y="1436468"/>
            <a:ext cx="3319462" cy="33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/>
          <p:nvPr>
            <p:ph idx="2" type="pic"/>
          </p:nvPr>
        </p:nvSpPr>
        <p:spPr>
          <a:xfrm>
            <a:off x="1101943" y="4045824"/>
            <a:ext cx="2951163" cy="155575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idx="3" type="body"/>
          </p:nvPr>
        </p:nvSpPr>
        <p:spPr>
          <a:xfrm>
            <a:off x="4421284" y="1436468"/>
            <a:ext cx="3319462" cy="33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"/>
          <p:cNvSpPr/>
          <p:nvPr>
            <p:ph idx="4" type="pic"/>
          </p:nvPr>
        </p:nvSpPr>
        <p:spPr>
          <a:xfrm>
            <a:off x="4619721" y="4045824"/>
            <a:ext cx="2951163" cy="155575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"/>
          <p:cNvSpPr txBox="1"/>
          <p:nvPr>
            <p:ph idx="5" type="body"/>
          </p:nvPr>
        </p:nvSpPr>
        <p:spPr>
          <a:xfrm>
            <a:off x="7938803" y="1433918"/>
            <a:ext cx="3319462" cy="33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4"/>
          <p:cNvSpPr/>
          <p:nvPr>
            <p:ph idx="6" type="pic"/>
          </p:nvPr>
        </p:nvSpPr>
        <p:spPr>
          <a:xfrm>
            <a:off x="8137240" y="4043274"/>
            <a:ext cx="2951163" cy="1555750"/>
          </a:xfrm>
          <a:prstGeom prst="rect">
            <a:avLst/>
          </a:prstGeom>
          <a:noFill/>
          <a:ln>
            <a:noFill/>
          </a:ln>
        </p:spPr>
      </p:sp>
      <p:pic>
        <p:nvPicPr>
          <p:cNvPr descr="Purdue Logo"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7" type="body"/>
          </p:nvPr>
        </p:nvSpPr>
        <p:spPr>
          <a:xfrm>
            <a:off x="1087907" y="2065260"/>
            <a:ext cx="2950589" cy="1691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4"/>
          <p:cNvSpPr txBox="1"/>
          <p:nvPr>
            <p:ph idx="8" type="body"/>
          </p:nvPr>
        </p:nvSpPr>
        <p:spPr>
          <a:xfrm>
            <a:off x="4605427" y="2065259"/>
            <a:ext cx="2950589" cy="1691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9" name="Google Shape;39;p4"/>
          <p:cNvSpPr txBox="1"/>
          <p:nvPr>
            <p:ph idx="9" type="body"/>
          </p:nvPr>
        </p:nvSpPr>
        <p:spPr>
          <a:xfrm>
            <a:off x="8122945" y="2065259"/>
            <a:ext cx="2950589" cy="1691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py with Photos">
  <p:cSld name="Copy with Photo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>
            <p:ph idx="2" type="pic"/>
          </p:nvPr>
        </p:nvSpPr>
        <p:spPr>
          <a:xfrm>
            <a:off x="468086" y="1543323"/>
            <a:ext cx="5862679" cy="2055591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6615759" y="1543322"/>
            <a:ext cx="5129927" cy="4307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descr="Purdue Logo" id="44" name="Google Shape;4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"/>
          <p:cNvSpPr/>
          <p:nvPr>
            <p:ph idx="3" type="pic"/>
          </p:nvPr>
        </p:nvSpPr>
        <p:spPr>
          <a:xfrm>
            <a:off x="3486577" y="3795304"/>
            <a:ext cx="2844188" cy="2055591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4" type="pic"/>
          </p:nvPr>
        </p:nvSpPr>
        <p:spPr>
          <a:xfrm>
            <a:off x="468086" y="3795304"/>
            <a:ext cx="2844188" cy="2055592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5"/>
          <p:cNvSpPr txBox="1"/>
          <p:nvPr>
            <p:ph idx="5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5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">
  <p:cSld name="Photo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>
            <p:ph idx="2" type="pic"/>
          </p:nvPr>
        </p:nvSpPr>
        <p:spPr>
          <a:xfrm>
            <a:off x="446313" y="1543323"/>
            <a:ext cx="5458727" cy="4317728"/>
          </a:xfrm>
          <a:prstGeom prst="rect">
            <a:avLst/>
          </a:prstGeom>
          <a:noFill/>
          <a:ln>
            <a:noFill/>
          </a:ln>
        </p:spPr>
      </p:sp>
      <p:pic>
        <p:nvPicPr>
          <p:cNvPr descr="Purdue Logo" id="52" name="Google Shape;5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"/>
          <p:cNvSpPr/>
          <p:nvPr>
            <p:ph idx="3" type="pic"/>
          </p:nvPr>
        </p:nvSpPr>
        <p:spPr>
          <a:xfrm>
            <a:off x="6286962" y="1543323"/>
            <a:ext cx="5458727" cy="4317728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6"/>
          <p:cNvSpPr txBox="1"/>
          <p:nvPr>
            <p:ph idx="1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">
  <p:cSld name="Title with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idx="1" type="body"/>
          </p:nvPr>
        </p:nvSpPr>
        <p:spPr>
          <a:xfrm>
            <a:off x="468086" y="1543324"/>
            <a:ext cx="11266714" cy="4454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pic>
        <p:nvPicPr>
          <p:cNvPr descr="Purdue Logo" id="59" name="Google Shape;5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2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- 3 Column">
  <p:cSld name="Title with Content - 3 Colum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" type="body"/>
          </p:nvPr>
        </p:nvSpPr>
        <p:spPr>
          <a:xfrm>
            <a:off x="468087" y="1543324"/>
            <a:ext cx="3507565" cy="439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pic>
        <p:nvPicPr>
          <p:cNvPr descr="Purdue Logo" id="66" name="Google Shape;6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 txBox="1"/>
          <p:nvPr>
            <p:ph idx="2" type="body"/>
          </p:nvPr>
        </p:nvSpPr>
        <p:spPr>
          <a:xfrm>
            <a:off x="4342217" y="1543323"/>
            <a:ext cx="3507565" cy="439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8"/>
          <p:cNvSpPr txBox="1"/>
          <p:nvPr>
            <p:ph idx="3" type="body"/>
          </p:nvPr>
        </p:nvSpPr>
        <p:spPr>
          <a:xfrm>
            <a:off x="8243137" y="1543322"/>
            <a:ext cx="3507565" cy="439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8"/>
          <p:cNvSpPr txBox="1"/>
          <p:nvPr>
            <p:ph idx="4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- 5 Color Blocks">
  <p:cSld name="Comparison - 5 Color Block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rdue Logo" id="72" name="Google Shape;7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/>
          <p:nvPr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rgbClr val="B9BB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Libre Franklin"/>
              <a:buNone/>
            </a:pPr>
            <a:r>
              <a:t/>
            </a:r>
            <a:endParaRPr sz="12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" name="Google Shape;76;p9"/>
          <p:cNvSpPr/>
          <p:nvPr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rgbClr val="B490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77" name="Google Shape;77;p9"/>
          <p:cNvSpPr/>
          <p:nvPr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rgbClr val="E2D4B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Libre Franklin"/>
              <a:buNone/>
            </a:pPr>
            <a:r>
              <a:t/>
            </a:r>
            <a:endParaRPr sz="12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8" name="Google Shape;78;p9"/>
          <p:cNvSpPr/>
          <p:nvPr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rgbClr val="9D95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Libre Franklin"/>
              <a:buNone/>
            </a:pPr>
            <a:r>
              <a:t/>
            </a:r>
            <a:endParaRPr sz="12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rgbClr val="C3BFB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Libre Franklin"/>
              <a:buNone/>
            </a:pPr>
            <a:r>
              <a:t/>
            </a:r>
            <a:endParaRPr sz="12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rgbClr val="9698A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Libre Franklin Medium"/>
              <a:ea typeface="Libre Franklin Medium"/>
              <a:cs typeface="Libre Franklin Medium"/>
              <a:sym typeface="Libre Franklin Medium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rgbClr val="DCDCD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Libre Franklin"/>
              <a:buNone/>
            </a:pPr>
            <a:r>
              <a:t/>
            </a:r>
            <a:endParaRPr sz="1200">
              <a:solidFill>
                <a:srgbClr val="000000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4" name="Google Shape;84;p9"/>
          <p:cNvSpPr txBox="1"/>
          <p:nvPr>
            <p:ph idx="1" type="body"/>
          </p:nvPr>
        </p:nvSpPr>
        <p:spPr>
          <a:xfrm>
            <a:off x="1008584" y="1783909"/>
            <a:ext cx="1918018" cy="220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2" type="body"/>
          </p:nvPr>
        </p:nvSpPr>
        <p:spPr>
          <a:xfrm>
            <a:off x="3045438" y="1768552"/>
            <a:ext cx="1918018" cy="220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9"/>
          <p:cNvSpPr txBox="1"/>
          <p:nvPr>
            <p:ph idx="3" type="body"/>
          </p:nvPr>
        </p:nvSpPr>
        <p:spPr>
          <a:xfrm>
            <a:off x="5082291" y="1768552"/>
            <a:ext cx="1918018" cy="220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9"/>
          <p:cNvSpPr txBox="1"/>
          <p:nvPr>
            <p:ph idx="4" type="body"/>
          </p:nvPr>
        </p:nvSpPr>
        <p:spPr>
          <a:xfrm>
            <a:off x="7119145" y="1768552"/>
            <a:ext cx="1918018" cy="220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9"/>
          <p:cNvSpPr txBox="1"/>
          <p:nvPr>
            <p:ph idx="5" type="body"/>
          </p:nvPr>
        </p:nvSpPr>
        <p:spPr>
          <a:xfrm>
            <a:off x="9156000" y="1770870"/>
            <a:ext cx="1918018" cy="220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1" i="0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9"/>
          <p:cNvSpPr txBox="1"/>
          <p:nvPr>
            <p:ph idx="6" type="body"/>
          </p:nvPr>
        </p:nvSpPr>
        <p:spPr>
          <a:xfrm>
            <a:off x="1117982" y="2312717"/>
            <a:ext cx="1658269" cy="2958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9"/>
          <p:cNvSpPr txBox="1"/>
          <p:nvPr>
            <p:ph idx="7" type="body"/>
          </p:nvPr>
        </p:nvSpPr>
        <p:spPr>
          <a:xfrm>
            <a:off x="3175312" y="2299864"/>
            <a:ext cx="1658269" cy="2958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1" name="Google Shape;91;p9"/>
          <p:cNvSpPr txBox="1"/>
          <p:nvPr>
            <p:ph idx="8" type="body"/>
          </p:nvPr>
        </p:nvSpPr>
        <p:spPr>
          <a:xfrm>
            <a:off x="5212165" y="2298292"/>
            <a:ext cx="1658269" cy="2958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2" name="Google Shape;92;p9"/>
          <p:cNvSpPr txBox="1"/>
          <p:nvPr>
            <p:ph idx="9" type="body"/>
          </p:nvPr>
        </p:nvSpPr>
        <p:spPr>
          <a:xfrm>
            <a:off x="7249018" y="2298292"/>
            <a:ext cx="1658269" cy="2958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3" name="Google Shape;93;p9"/>
          <p:cNvSpPr txBox="1"/>
          <p:nvPr>
            <p:ph idx="13" type="body"/>
          </p:nvPr>
        </p:nvSpPr>
        <p:spPr>
          <a:xfrm>
            <a:off x="9285873" y="2312717"/>
            <a:ext cx="1658269" cy="2958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4" name="Google Shape;94;p9"/>
          <p:cNvSpPr txBox="1"/>
          <p:nvPr>
            <p:ph idx="14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s with Captions">
  <p:cSld name="Photos with Captio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 txBox="1"/>
          <p:nvPr>
            <p:ph idx="1" type="body"/>
          </p:nvPr>
        </p:nvSpPr>
        <p:spPr>
          <a:xfrm>
            <a:off x="435428" y="3253121"/>
            <a:ext cx="354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descr="Purdue Logo" id="98" name="Google Shape;98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0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0"/>
          <p:cNvSpPr/>
          <p:nvPr>
            <p:ph idx="2" type="pic"/>
          </p:nvPr>
        </p:nvSpPr>
        <p:spPr>
          <a:xfrm>
            <a:off x="457200" y="1367317"/>
            <a:ext cx="3520020" cy="1750458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0"/>
          <p:cNvSpPr/>
          <p:nvPr>
            <p:ph idx="3" type="pic"/>
          </p:nvPr>
        </p:nvSpPr>
        <p:spPr>
          <a:xfrm>
            <a:off x="4325104" y="1367317"/>
            <a:ext cx="3520020" cy="1750458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10"/>
          <p:cNvSpPr/>
          <p:nvPr>
            <p:ph idx="4" type="pic"/>
          </p:nvPr>
        </p:nvSpPr>
        <p:spPr>
          <a:xfrm>
            <a:off x="8181729" y="1367317"/>
            <a:ext cx="3520020" cy="1750458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0"/>
          <p:cNvSpPr txBox="1"/>
          <p:nvPr>
            <p:ph idx="5" type="body"/>
          </p:nvPr>
        </p:nvSpPr>
        <p:spPr>
          <a:xfrm>
            <a:off x="4303332" y="3253121"/>
            <a:ext cx="354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10"/>
          <p:cNvSpPr txBox="1"/>
          <p:nvPr>
            <p:ph idx="6" type="body"/>
          </p:nvPr>
        </p:nvSpPr>
        <p:spPr>
          <a:xfrm>
            <a:off x="8181729" y="3253121"/>
            <a:ext cx="354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5" name="Google Shape;105;p10"/>
          <p:cNvSpPr txBox="1"/>
          <p:nvPr>
            <p:ph idx="7" type="body"/>
          </p:nvPr>
        </p:nvSpPr>
        <p:spPr>
          <a:xfrm>
            <a:off x="413656" y="5656648"/>
            <a:ext cx="354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6" name="Google Shape;106;p10"/>
          <p:cNvSpPr/>
          <p:nvPr>
            <p:ph idx="8" type="pic"/>
          </p:nvPr>
        </p:nvSpPr>
        <p:spPr>
          <a:xfrm>
            <a:off x="435428" y="3770844"/>
            <a:ext cx="3520020" cy="1750458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/>
          <p:nvPr>
            <p:ph idx="9" type="pic"/>
          </p:nvPr>
        </p:nvSpPr>
        <p:spPr>
          <a:xfrm>
            <a:off x="4303332" y="3770844"/>
            <a:ext cx="3520020" cy="1750458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10"/>
          <p:cNvSpPr/>
          <p:nvPr>
            <p:ph idx="13" type="pic"/>
          </p:nvPr>
        </p:nvSpPr>
        <p:spPr>
          <a:xfrm>
            <a:off x="8193008" y="3770844"/>
            <a:ext cx="3520020" cy="1750458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0"/>
          <p:cNvSpPr txBox="1"/>
          <p:nvPr>
            <p:ph idx="14" type="body"/>
          </p:nvPr>
        </p:nvSpPr>
        <p:spPr>
          <a:xfrm>
            <a:off x="4281560" y="5656648"/>
            <a:ext cx="354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0" name="Google Shape;110;p10"/>
          <p:cNvSpPr txBox="1"/>
          <p:nvPr>
            <p:ph idx="15" type="body"/>
          </p:nvPr>
        </p:nvSpPr>
        <p:spPr>
          <a:xfrm>
            <a:off x="8193008" y="5656648"/>
            <a:ext cx="3541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10"/>
          <p:cNvSpPr txBox="1"/>
          <p:nvPr>
            <p:ph idx="16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10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- Black">
  <p:cSld name="End Slide - Black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56800" y="0"/>
            <a:ext cx="2235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1"/>
          <p:cNvSpPr/>
          <p:nvPr/>
        </p:nvSpPr>
        <p:spPr>
          <a:xfrm>
            <a:off x="9954706" y="-9439"/>
            <a:ext cx="2246721" cy="6867440"/>
          </a:xfrm>
          <a:custGeom>
            <a:rect b="b" l="l" r="r" t="t"/>
            <a:pathLst>
              <a:path extrusionOk="0" h="6872149" w="2243566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6" name="Google Shape;116;p11"/>
          <p:cNvSpPr txBox="1"/>
          <p:nvPr>
            <p:ph type="title"/>
          </p:nvPr>
        </p:nvSpPr>
        <p:spPr>
          <a:xfrm>
            <a:off x="805070" y="2466280"/>
            <a:ext cx="7981645" cy="71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  <a:defRPr sz="96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1" type="body"/>
          </p:nvPr>
        </p:nvSpPr>
        <p:spPr>
          <a:xfrm>
            <a:off x="924339" y="3434010"/>
            <a:ext cx="7874567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Purdue Logo"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070" y="5739119"/>
            <a:ext cx="2709200" cy="4849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Gold">
  <p:cSld name="Title Slide - Gold">
    <p:bg>
      <p:bgPr>
        <a:solidFill>
          <a:schemeClr val="accen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56800" y="0"/>
            <a:ext cx="2235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rdue Logo" id="121" name="Google Shape;1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143" y="5756156"/>
            <a:ext cx="2709200" cy="48494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 txBox="1"/>
          <p:nvPr>
            <p:ph type="title"/>
          </p:nvPr>
        </p:nvSpPr>
        <p:spPr>
          <a:xfrm>
            <a:off x="1023257" y="1812045"/>
            <a:ext cx="7763458" cy="71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1023257" y="2617146"/>
            <a:ext cx="7763458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12"/>
          <p:cNvSpPr txBox="1"/>
          <p:nvPr>
            <p:ph idx="2" type="body"/>
          </p:nvPr>
        </p:nvSpPr>
        <p:spPr>
          <a:xfrm>
            <a:off x="1023257" y="3148847"/>
            <a:ext cx="7763458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"/>
          <p:cNvSpPr/>
          <p:nvPr>
            <p:ph idx="2" type="pic"/>
          </p:nvPr>
        </p:nvSpPr>
        <p:spPr>
          <a:xfrm>
            <a:off x="0" y="-9525"/>
            <a:ext cx="12192000" cy="6867525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py">
  <p:cSld name="Title with Cop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2" type="body"/>
          </p:nvPr>
        </p:nvSpPr>
        <p:spPr>
          <a:xfrm>
            <a:off x="457199" y="1543324"/>
            <a:ext cx="11266713" cy="4454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14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urdue Logo" id="133" name="Google Shape;13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py - 2 Column">
  <p:cSld name="Title with Copy - 2 Column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>
            <p:ph idx="1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15"/>
          <p:cNvSpPr txBox="1"/>
          <p:nvPr>
            <p:ph idx="2" type="body"/>
          </p:nvPr>
        </p:nvSpPr>
        <p:spPr>
          <a:xfrm>
            <a:off x="457199" y="1543324"/>
            <a:ext cx="11266713" cy="4454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15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urdue Logo" id="139" name="Google Shape;13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- 2 Column">
  <p:cSld name="Title with Content - 2 Colum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468086" y="1543324"/>
            <a:ext cx="5413169" cy="439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4" name="Google Shape;144;p16"/>
          <p:cNvSpPr txBox="1"/>
          <p:nvPr>
            <p:ph idx="2" type="body"/>
          </p:nvPr>
        </p:nvSpPr>
        <p:spPr>
          <a:xfrm>
            <a:off x="6309157" y="1543324"/>
            <a:ext cx="5425643" cy="439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pic>
        <p:nvPicPr>
          <p:cNvPr descr="Purdue Logo" id="145" name="Google Shape;14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>
            <p:ph idx="3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16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with Copy - 2 Column">
  <p:cSld name="Photo with Copy - 2 Column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17"/>
          <p:cNvSpPr txBox="1"/>
          <p:nvPr>
            <p:ph idx="2" type="body"/>
          </p:nvPr>
        </p:nvSpPr>
        <p:spPr>
          <a:xfrm>
            <a:off x="446313" y="3652272"/>
            <a:ext cx="5469743" cy="2345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urdue Logo" id="152" name="Google Shape;15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>
            <p:ph idx="3" type="pic"/>
          </p:nvPr>
        </p:nvSpPr>
        <p:spPr>
          <a:xfrm>
            <a:off x="446311" y="1543323"/>
            <a:ext cx="5469745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17"/>
          <p:cNvSpPr/>
          <p:nvPr>
            <p:ph idx="4" type="pic"/>
          </p:nvPr>
        </p:nvSpPr>
        <p:spPr>
          <a:xfrm>
            <a:off x="6275945" y="1543323"/>
            <a:ext cx="5458727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7"/>
          <p:cNvSpPr txBox="1"/>
          <p:nvPr>
            <p:ph idx="5" type="body"/>
          </p:nvPr>
        </p:nvSpPr>
        <p:spPr>
          <a:xfrm>
            <a:off x="6264929" y="3652271"/>
            <a:ext cx="5469743" cy="2345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17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with Copy - 3 Column">
  <p:cSld name="Photo with Copy - 3 Column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idx="1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sz="2200">
                <a:solidFill>
                  <a:srgbClr val="A5A5A5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8"/>
          <p:cNvSpPr txBox="1"/>
          <p:nvPr>
            <p:ph idx="2" type="body"/>
          </p:nvPr>
        </p:nvSpPr>
        <p:spPr>
          <a:xfrm>
            <a:off x="446314" y="3652272"/>
            <a:ext cx="3534479" cy="2345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8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urdue Logo" id="161" name="Google Shape;16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/>
          <p:nvPr>
            <p:ph idx="3" type="pic"/>
          </p:nvPr>
        </p:nvSpPr>
        <p:spPr>
          <a:xfrm>
            <a:off x="446312" y="1543323"/>
            <a:ext cx="3534479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18"/>
          <p:cNvSpPr/>
          <p:nvPr>
            <p:ph idx="4" type="pic"/>
          </p:nvPr>
        </p:nvSpPr>
        <p:spPr>
          <a:xfrm>
            <a:off x="4336974" y="1543324"/>
            <a:ext cx="3527360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18"/>
          <p:cNvSpPr txBox="1"/>
          <p:nvPr>
            <p:ph idx="5" type="body"/>
          </p:nvPr>
        </p:nvSpPr>
        <p:spPr>
          <a:xfrm>
            <a:off x="4325959" y="3652272"/>
            <a:ext cx="3534479" cy="2345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18"/>
          <p:cNvSpPr/>
          <p:nvPr>
            <p:ph idx="6" type="pic"/>
          </p:nvPr>
        </p:nvSpPr>
        <p:spPr>
          <a:xfrm>
            <a:off x="8205605" y="1532307"/>
            <a:ext cx="3527360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18"/>
          <p:cNvSpPr txBox="1"/>
          <p:nvPr>
            <p:ph idx="7" type="body"/>
          </p:nvPr>
        </p:nvSpPr>
        <p:spPr>
          <a:xfrm>
            <a:off x="8194590" y="3641255"/>
            <a:ext cx="3534479" cy="2345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18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457202" y="457200"/>
            <a:ext cx="4314823" cy="96409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9"/>
          <p:cNvSpPr txBox="1"/>
          <p:nvPr>
            <p:ph idx="1" type="body"/>
          </p:nvPr>
        </p:nvSpPr>
        <p:spPr>
          <a:xfrm>
            <a:off x="457202" y="1570383"/>
            <a:ext cx="4314823" cy="4298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19"/>
          <p:cNvSpPr txBox="1"/>
          <p:nvPr>
            <p:ph idx="2" type="body"/>
          </p:nvPr>
        </p:nvSpPr>
        <p:spPr>
          <a:xfrm>
            <a:off x="5071871" y="457200"/>
            <a:ext cx="6662927" cy="5411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pic>
        <p:nvPicPr>
          <p:cNvPr descr="Purdue Logo" id="172" name="Google Shape;17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with Caption" type="picTx">
  <p:cSld name="PICTURE_WITH_CAPTION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446314" y="470037"/>
            <a:ext cx="4325711" cy="1034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0"/>
          <p:cNvSpPr/>
          <p:nvPr>
            <p:ph idx="2" type="pic"/>
          </p:nvPr>
        </p:nvSpPr>
        <p:spPr>
          <a:xfrm>
            <a:off x="5183188" y="470037"/>
            <a:ext cx="6562498" cy="5391013"/>
          </a:xfrm>
          <a:prstGeom prst="rect">
            <a:avLst/>
          </a:prstGeom>
          <a:noFill/>
          <a:ln>
            <a:noFill/>
          </a:ln>
        </p:spPr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446314" y="1759226"/>
            <a:ext cx="4325711" cy="4086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descr="Purdue Logo" id="178" name="Google Shape;178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Collage">
  <p:cSld name="Photo Collage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Purdue Logo" id="183" name="Google Shape;18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/>
          <p:nvPr>
            <p:ph idx="2" type="pic"/>
          </p:nvPr>
        </p:nvSpPr>
        <p:spPr>
          <a:xfrm>
            <a:off x="446314" y="1542762"/>
            <a:ext cx="2611015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85" name="Google Shape;185;p21"/>
          <p:cNvSpPr/>
          <p:nvPr>
            <p:ph idx="3" type="pic"/>
          </p:nvPr>
        </p:nvSpPr>
        <p:spPr>
          <a:xfrm>
            <a:off x="3344063" y="1542762"/>
            <a:ext cx="2605756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86" name="Google Shape;186;p21"/>
          <p:cNvSpPr/>
          <p:nvPr>
            <p:ph idx="4" type="pic"/>
          </p:nvPr>
        </p:nvSpPr>
        <p:spPr>
          <a:xfrm>
            <a:off x="6236553" y="1542762"/>
            <a:ext cx="2605756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87" name="Google Shape;187;p21"/>
          <p:cNvSpPr/>
          <p:nvPr>
            <p:ph idx="5" type="pic"/>
          </p:nvPr>
        </p:nvSpPr>
        <p:spPr>
          <a:xfrm>
            <a:off x="9129043" y="1542762"/>
            <a:ext cx="2605756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88" name="Google Shape;188;p21"/>
          <p:cNvSpPr/>
          <p:nvPr>
            <p:ph idx="6" type="pic"/>
          </p:nvPr>
        </p:nvSpPr>
        <p:spPr>
          <a:xfrm>
            <a:off x="1843620" y="3651150"/>
            <a:ext cx="2611015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21"/>
          <p:cNvSpPr/>
          <p:nvPr>
            <p:ph idx="7" type="pic"/>
          </p:nvPr>
        </p:nvSpPr>
        <p:spPr>
          <a:xfrm>
            <a:off x="4741369" y="3651150"/>
            <a:ext cx="2605756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1"/>
          <p:cNvSpPr/>
          <p:nvPr>
            <p:ph idx="8" type="pic"/>
          </p:nvPr>
        </p:nvSpPr>
        <p:spPr>
          <a:xfrm>
            <a:off x="7633859" y="3651150"/>
            <a:ext cx="2605756" cy="1885677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with 2 Photos">
  <p:cSld name="Chart with 2 Photo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/>
          <p:nvPr>
            <p:ph idx="2" type="pic"/>
          </p:nvPr>
        </p:nvSpPr>
        <p:spPr>
          <a:xfrm>
            <a:off x="6521986" y="1643073"/>
            <a:ext cx="5212813" cy="2055591"/>
          </a:xfrm>
          <a:prstGeom prst="rect">
            <a:avLst/>
          </a:prstGeom>
          <a:noFill/>
          <a:ln>
            <a:noFill/>
          </a:ln>
        </p:spPr>
      </p:sp>
      <p:pic>
        <p:nvPicPr>
          <p:cNvPr descr="Purdue Logo" id="194" name="Google Shape;19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2"/>
          <p:cNvSpPr/>
          <p:nvPr>
            <p:ph idx="3" type="pic"/>
          </p:nvPr>
        </p:nvSpPr>
        <p:spPr>
          <a:xfrm>
            <a:off x="6521986" y="3884037"/>
            <a:ext cx="5212813" cy="2055591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22"/>
          <p:cNvSpPr txBox="1"/>
          <p:nvPr>
            <p:ph idx="4" type="body"/>
          </p:nvPr>
        </p:nvSpPr>
        <p:spPr>
          <a:xfrm>
            <a:off x="446315" y="1643073"/>
            <a:ext cx="5745165" cy="4307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99" name="Google Shape;199;p22"/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0" name="Google Shape;200;p22"/>
          <p:cNvSpPr txBox="1"/>
          <p:nvPr>
            <p:ph idx="5" type="body"/>
          </p:nvPr>
        </p:nvSpPr>
        <p:spPr>
          <a:xfrm>
            <a:off x="6521726" y="3395949"/>
            <a:ext cx="5212943" cy="30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2"/>
          <p:cNvSpPr/>
          <p:nvPr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2" name="Google Shape;202;p22"/>
          <p:cNvSpPr txBox="1"/>
          <p:nvPr>
            <p:ph idx="6" type="body"/>
          </p:nvPr>
        </p:nvSpPr>
        <p:spPr>
          <a:xfrm>
            <a:off x="6521726" y="5636913"/>
            <a:ext cx="5212813" cy="30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2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with 3 Photos">
  <p:cSld name="Chart with 3 Photos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/>
          <p:nvPr>
            <p:ph idx="2" type="pic"/>
          </p:nvPr>
        </p:nvSpPr>
        <p:spPr>
          <a:xfrm>
            <a:off x="6521986" y="1643073"/>
            <a:ext cx="5212813" cy="2055591"/>
          </a:xfrm>
          <a:prstGeom prst="rect">
            <a:avLst/>
          </a:prstGeom>
          <a:noFill/>
          <a:ln>
            <a:noFill/>
          </a:ln>
        </p:spPr>
      </p:sp>
      <p:pic>
        <p:nvPicPr>
          <p:cNvPr descr="Purdue Logo" id="206" name="Google Shape;20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3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3"/>
          <p:cNvSpPr/>
          <p:nvPr>
            <p:ph idx="3" type="pic"/>
          </p:nvPr>
        </p:nvSpPr>
        <p:spPr>
          <a:xfrm>
            <a:off x="9287219" y="3884037"/>
            <a:ext cx="2447580" cy="2055591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23"/>
          <p:cNvSpPr/>
          <p:nvPr>
            <p:ph idx="4" type="pic"/>
          </p:nvPr>
        </p:nvSpPr>
        <p:spPr>
          <a:xfrm>
            <a:off x="6521986" y="3879120"/>
            <a:ext cx="2528916" cy="2055592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23"/>
          <p:cNvSpPr txBox="1"/>
          <p:nvPr>
            <p:ph idx="1" type="body"/>
          </p:nvPr>
        </p:nvSpPr>
        <p:spPr>
          <a:xfrm>
            <a:off x="457200" y="954291"/>
            <a:ext cx="1127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200"/>
              <a:buNone/>
              <a:defRPr b="1" i="0" sz="22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23"/>
          <p:cNvSpPr txBox="1"/>
          <p:nvPr>
            <p:ph idx="5" type="body"/>
          </p:nvPr>
        </p:nvSpPr>
        <p:spPr>
          <a:xfrm>
            <a:off x="446315" y="1643073"/>
            <a:ext cx="5745165" cy="43075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▪"/>
              <a:defRPr sz="15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▪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2" name="Google Shape;212;p23"/>
          <p:cNvSpPr/>
          <p:nvPr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3" name="Google Shape;213;p23"/>
          <p:cNvSpPr txBox="1"/>
          <p:nvPr>
            <p:ph idx="6" type="body"/>
          </p:nvPr>
        </p:nvSpPr>
        <p:spPr>
          <a:xfrm>
            <a:off x="6571823" y="3395949"/>
            <a:ext cx="5162846" cy="30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4" name="Google Shape;214;p23"/>
          <p:cNvSpPr/>
          <p:nvPr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5" name="Google Shape;215;p23"/>
          <p:cNvSpPr txBox="1"/>
          <p:nvPr>
            <p:ph idx="7" type="body"/>
          </p:nvPr>
        </p:nvSpPr>
        <p:spPr>
          <a:xfrm>
            <a:off x="6562654" y="5631997"/>
            <a:ext cx="2488248" cy="30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6" name="Google Shape;216;p23"/>
          <p:cNvSpPr/>
          <p:nvPr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7" name="Google Shape;217;p23"/>
          <p:cNvSpPr txBox="1"/>
          <p:nvPr>
            <p:ph idx="8" type="body"/>
          </p:nvPr>
        </p:nvSpPr>
        <p:spPr>
          <a:xfrm>
            <a:off x="9337055" y="5641703"/>
            <a:ext cx="2408630" cy="30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8" name="Google Shape;218;p23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- 3 Blocks - Gold">
  <p:cSld name="Comparison - 3 Blocks - Gold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"/>
          <p:cNvSpPr/>
          <p:nvPr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2" name="Google Shape;222;p24"/>
          <p:cNvSpPr/>
          <p:nvPr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3" name="Google Shape;223;p24"/>
          <p:cNvSpPr txBox="1"/>
          <p:nvPr>
            <p:ph idx="1" type="body"/>
          </p:nvPr>
        </p:nvSpPr>
        <p:spPr>
          <a:xfrm>
            <a:off x="903247" y="1436466"/>
            <a:ext cx="3319462" cy="33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24"/>
          <p:cNvSpPr txBox="1"/>
          <p:nvPr>
            <p:ph idx="2" type="body"/>
          </p:nvPr>
        </p:nvSpPr>
        <p:spPr>
          <a:xfrm>
            <a:off x="4421025" y="1436466"/>
            <a:ext cx="3319462" cy="33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24"/>
          <p:cNvSpPr txBox="1"/>
          <p:nvPr>
            <p:ph idx="3" type="body"/>
          </p:nvPr>
        </p:nvSpPr>
        <p:spPr>
          <a:xfrm>
            <a:off x="7938544" y="1433916"/>
            <a:ext cx="3319462" cy="339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4" type="body"/>
          </p:nvPr>
        </p:nvSpPr>
        <p:spPr>
          <a:xfrm>
            <a:off x="1101684" y="2040670"/>
            <a:ext cx="2951163" cy="1691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5" type="body"/>
          </p:nvPr>
        </p:nvSpPr>
        <p:spPr>
          <a:xfrm>
            <a:off x="4604880" y="2065258"/>
            <a:ext cx="2951163" cy="1691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8" name="Google Shape;228;p24"/>
          <p:cNvSpPr/>
          <p:nvPr>
            <p:ph idx="6" type="pic"/>
          </p:nvPr>
        </p:nvSpPr>
        <p:spPr>
          <a:xfrm>
            <a:off x="1101684" y="4045822"/>
            <a:ext cx="2951163" cy="155575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4"/>
          <p:cNvSpPr/>
          <p:nvPr>
            <p:ph idx="7" type="pic"/>
          </p:nvPr>
        </p:nvSpPr>
        <p:spPr>
          <a:xfrm>
            <a:off x="4619462" y="4045822"/>
            <a:ext cx="2951163" cy="155575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4"/>
          <p:cNvSpPr/>
          <p:nvPr>
            <p:ph idx="8" type="pic"/>
          </p:nvPr>
        </p:nvSpPr>
        <p:spPr>
          <a:xfrm>
            <a:off x="8136981" y="4043272"/>
            <a:ext cx="2951163" cy="155575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4"/>
          <p:cNvSpPr txBox="1"/>
          <p:nvPr>
            <p:ph idx="9" type="body"/>
          </p:nvPr>
        </p:nvSpPr>
        <p:spPr>
          <a:xfrm>
            <a:off x="8129414" y="2071424"/>
            <a:ext cx="2951163" cy="16913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descr="Purdue Logo" id="232" name="Google Shape;23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46314" y="6227781"/>
            <a:ext cx="1803190" cy="32276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4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with Caption - Black Diagonal">
  <p:cSld name="Photo with Caption - Black Diagonal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5"/>
          <p:cNvSpPr/>
          <p:nvPr>
            <p:ph idx="2" type="pic"/>
          </p:nvPr>
        </p:nvSpPr>
        <p:spPr>
          <a:xfrm>
            <a:off x="5610386" y="-9524"/>
            <a:ext cx="6581614" cy="6882938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25"/>
          <p:cNvSpPr/>
          <p:nvPr/>
        </p:nvSpPr>
        <p:spPr>
          <a:xfrm>
            <a:off x="0" y="-9440"/>
            <a:ext cx="7284203" cy="6882938"/>
          </a:xfrm>
          <a:custGeom>
            <a:rect b="b" l="l" r="r" t="t"/>
            <a:pathLst>
              <a:path extrusionOk="0" h="6882938" w="7284203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38" name="Google Shape;238;p25"/>
          <p:cNvSpPr txBox="1"/>
          <p:nvPr>
            <p:ph type="title"/>
          </p:nvPr>
        </p:nvSpPr>
        <p:spPr>
          <a:xfrm>
            <a:off x="1142005" y="891153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5"/>
          <p:cNvSpPr txBox="1"/>
          <p:nvPr>
            <p:ph idx="1" type="body"/>
          </p:nvPr>
        </p:nvSpPr>
        <p:spPr>
          <a:xfrm>
            <a:off x="1142005" y="249135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0" name="Google Shape;240;p25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with Caption - White Diagonal">
  <p:cSld name="Photo with Caption - White Diagonal"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>
            <p:ph idx="2" type="pic"/>
          </p:nvPr>
        </p:nvSpPr>
        <p:spPr>
          <a:xfrm>
            <a:off x="5610386" y="-9525"/>
            <a:ext cx="6581614" cy="6882938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6"/>
          <p:cNvSpPr/>
          <p:nvPr/>
        </p:nvSpPr>
        <p:spPr>
          <a:xfrm>
            <a:off x="0" y="0"/>
            <a:ext cx="7284203" cy="6882938"/>
          </a:xfrm>
          <a:custGeom>
            <a:rect b="b" l="l" r="r" t="t"/>
            <a:pathLst>
              <a:path extrusionOk="0" h="6882938" w="7284203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1142005" y="891153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6"/>
          <p:cNvSpPr txBox="1"/>
          <p:nvPr>
            <p:ph idx="1" type="body"/>
          </p:nvPr>
        </p:nvSpPr>
        <p:spPr>
          <a:xfrm>
            <a:off x="1142005" y="249135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46" name="Google Shape;246;p26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 - Gold">
  <p:cSld name="End Slide - Gold">
    <p:bg>
      <p:bgPr>
        <a:solidFill>
          <a:schemeClr val="accen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56800" y="0"/>
            <a:ext cx="22352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urdue Logo" id="249" name="Google Shape;2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143" y="5756156"/>
            <a:ext cx="2709200" cy="48494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7"/>
          <p:cNvSpPr txBox="1"/>
          <p:nvPr>
            <p:ph type="title"/>
          </p:nvPr>
        </p:nvSpPr>
        <p:spPr>
          <a:xfrm>
            <a:off x="805070" y="2466280"/>
            <a:ext cx="7981645" cy="71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None/>
              <a:defRPr sz="96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1" type="body"/>
          </p:nvPr>
        </p:nvSpPr>
        <p:spPr>
          <a:xfrm>
            <a:off x="924339" y="3434010"/>
            <a:ext cx="7874567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1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 txBox="1"/>
          <p:nvPr>
            <p:ph type="title"/>
          </p:nvPr>
        </p:nvSpPr>
        <p:spPr>
          <a:xfrm>
            <a:off x="1023249" y="2005075"/>
            <a:ext cx="89136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3900"/>
              <a:t>FPGA-Accelerated HFT Edge Device</a:t>
            </a:r>
            <a:endParaRPr sz="3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t/>
            </a:r>
            <a:endParaRPr sz="3900"/>
          </a:p>
        </p:txBody>
      </p:sp>
      <p:sp>
        <p:nvSpPr>
          <p:cNvPr id="258" name="Google Shape;258;p28"/>
          <p:cNvSpPr txBox="1"/>
          <p:nvPr>
            <p:ph idx="1" type="body"/>
          </p:nvPr>
        </p:nvSpPr>
        <p:spPr>
          <a:xfrm>
            <a:off x="1023257" y="2629338"/>
            <a:ext cx="7763458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lang="en-US"/>
              <a:t>Project Type: Research Project</a:t>
            </a:r>
            <a:endParaRPr/>
          </a:p>
        </p:txBody>
      </p:sp>
      <p:sp>
        <p:nvSpPr>
          <p:cNvPr id="259" name="Google Shape;259;p28"/>
          <p:cNvSpPr txBox="1"/>
          <p:nvPr>
            <p:ph idx="2" type="body"/>
          </p:nvPr>
        </p:nvSpPr>
        <p:spPr>
          <a:xfrm>
            <a:off x="1023257" y="3107129"/>
            <a:ext cx="7763458" cy="449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lang="en-US"/>
              <a:t>05/01/2025</a:t>
            </a:r>
            <a:endParaRPr/>
          </a:p>
        </p:txBody>
      </p:sp>
      <p:sp>
        <p:nvSpPr>
          <p:cNvPr id="260" name="Google Shape;260;p28"/>
          <p:cNvSpPr txBox="1"/>
          <p:nvPr>
            <p:ph idx="2" type="body"/>
          </p:nvPr>
        </p:nvSpPr>
        <p:spPr>
          <a:xfrm>
            <a:off x="1023300" y="3989425"/>
            <a:ext cx="7763400" cy="18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lang="en-US" sz="2000"/>
              <a:t>Team Leader: </a:t>
            </a:r>
            <a:r>
              <a:rPr lang="en-US" sz="2000">
                <a:highlight>
                  <a:srgbClr val="FF0000"/>
                </a:highlight>
              </a:rPr>
              <a:t>Aneesh Poddutur</a:t>
            </a:r>
            <a:endParaRPr sz="2000">
              <a:highlight>
                <a:srgbClr val="FF00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lang="en-US" sz="2000">
                <a:highlight>
                  <a:srgbClr val="FF0000"/>
                </a:highlight>
              </a:rPr>
              <a:t>Bharath Chandar Natarajan </a:t>
            </a:r>
            <a:endParaRPr sz="2000">
              <a:highlight>
                <a:srgbClr val="FF00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lang="en-US" sz="2000">
                <a:highlight>
                  <a:srgbClr val="FF0000"/>
                </a:highlight>
              </a:rPr>
              <a:t>Yiyun Wang (Sky)</a:t>
            </a:r>
            <a:endParaRPr sz="2000">
              <a:highlight>
                <a:srgbClr val="FF0000"/>
              </a:highlight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lang="en-US" sz="2000"/>
              <a:t>Shraddha Sahoo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lang="en-US" sz="2000">
                <a:highlight>
                  <a:srgbClr val="FF0000"/>
                </a:highlight>
              </a:rPr>
              <a:t>Dheeraj Krishna Chaitanya Karanam</a:t>
            </a:r>
            <a:endParaRPr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Target Problem Refresher</a:t>
            </a:r>
            <a:endParaRPr/>
          </a:p>
        </p:txBody>
      </p:sp>
      <p:sp>
        <p:nvSpPr>
          <p:cNvPr id="266" name="Google Shape;266;p29"/>
          <p:cNvSpPr txBox="1"/>
          <p:nvPr>
            <p:ph idx="12" type="sldNum"/>
          </p:nvPr>
        </p:nvSpPr>
        <p:spPr>
          <a:xfrm>
            <a:off x="10634663" y="6290433"/>
            <a:ext cx="110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9"/>
          <p:cNvSpPr txBox="1"/>
          <p:nvPr/>
        </p:nvSpPr>
        <p:spPr>
          <a:xfrm>
            <a:off x="567975" y="1224650"/>
            <a:ext cx="11067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What is High Frequency Trading (HFT)?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Algorithmic trading leveraging high-throughput, low-latency compute.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Executes numerous financial transactions at extremely high speeds.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Exploits small price movements (e.g., commodity price mismatches, options pricing recalculations).</a:t>
            </a:r>
            <a:endParaRPr b="1"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The Challenge: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Ultra-low latency is critical for processing market data.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Proximity to exchanges impacts latency due to cable length delays.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Not all traders can establish locations near exchanges.</a:t>
            </a:r>
            <a:endParaRPr b="1"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Our Focus: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Develop a portable, low-power edge device to minimize latency.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Enable HFT for diverse users (e.g., large firms like Citadel or individual traders like Jeremy).</a:t>
            </a:r>
            <a:endParaRPr b="1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Why Edge Devices for HFT?</a:t>
            </a:r>
            <a:endParaRPr/>
          </a:p>
        </p:txBody>
      </p:sp>
      <p:sp>
        <p:nvSpPr>
          <p:cNvPr id="273" name="Google Shape;273;p30"/>
          <p:cNvSpPr txBox="1"/>
          <p:nvPr>
            <p:ph idx="12" type="sldNum"/>
          </p:nvPr>
        </p:nvSpPr>
        <p:spPr>
          <a:xfrm>
            <a:off x="10634663" y="6290433"/>
            <a:ext cx="110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4" name="Google Shape;274;p30"/>
          <p:cNvSpPr txBox="1"/>
          <p:nvPr/>
        </p:nvSpPr>
        <p:spPr>
          <a:xfrm>
            <a:off x="562500" y="1330475"/>
            <a:ext cx="110670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Motivation: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Traditional HFT systems rely on direct Ethernet connections and high-speed protocols (PCIe, FPGA/ASIC).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Distant trading locations increase latency due to longer cable lengths.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Edge devices offer a compact, portable solution for proximity to exchanges.</a:t>
            </a:r>
            <a:endParaRPr b="1"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Benefits: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Large Firms: Place edge devices near exchanges for preliminary processing.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Individual Traders: Enable low-volume HFT in remote settings (e.g., dorm rooms).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Low Power &amp; Portability: Reduces infrastructure needs, democratizes access to HFT.</a:t>
            </a:r>
            <a:endParaRPr b="1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1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Methodology Overview</a:t>
            </a:r>
            <a:endParaRPr/>
          </a:p>
        </p:txBody>
      </p:sp>
      <p:sp>
        <p:nvSpPr>
          <p:cNvPr id="280" name="Google Shape;280;p31"/>
          <p:cNvSpPr txBox="1"/>
          <p:nvPr>
            <p:ph idx="12" type="sldNum"/>
          </p:nvPr>
        </p:nvSpPr>
        <p:spPr>
          <a:xfrm>
            <a:off x="10634663" y="6290433"/>
            <a:ext cx="110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31"/>
          <p:cNvSpPr txBox="1"/>
          <p:nvPr/>
        </p:nvSpPr>
        <p:spPr>
          <a:xfrm>
            <a:off x="562500" y="1072850"/>
            <a:ext cx="11067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Original Core Approach: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Implement FPGA-based hardware computation for Black-Scholes pricing model.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Build SPI bus for FPGA.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Build SPI sending/receiving functionality in ESP32.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Use wireless communication to send market data to the edge device, or generate test data from the ESP32 for benchmarking.</a:t>
            </a:r>
            <a:endParaRPr b="1" sz="19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System Components: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ESP32 Microcontroller: Handles wireless data reception and coordination.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Diligent A7 35T FPGA: Executes customized, parallelized, deterministic trading algorithms.</a:t>
            </a:r>
            <a:endParaRPr b="1"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b="1" lang="en-US" sz="1900"/>
              <a:t>External Financial API: Provides real-time market data for processing.</a:t>
            </a:r>
            <a:endParaRPr b="1" sz="1900"/>
          </a:p>
        </p:txBody>
      </p:sp>
      <p:sp>
        <p:nvSpPr>
          <p:cNvPr id="282" name="Google Shape;282;p31"/>
          <p:cNvSpPr/>
          <p:nvPr/>
        </p:nvSpPr>
        <p:spPr>
          <a:xfrm>
            <a:off x="1931700" y="4851875"/>
            <a:ext cx="1991100" cy="1050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ESP32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fetches data from Financial API via WIFI, or generates dummy data</a:t>
            </a:r>
            <a:endParaRPr/>
          </a:p>
        </p:txBody>
      </p:sp>
      <p:sp>
        <p:nvSpPr>
          <p:cNvPr id="283" name="Google Shape;283;p31"/>
          <p:cNvSpPr/>
          <p:nvPr/>
        </p:nvSpPr>
        <p:spPr>
          <a:xfrm>
            <a:off x="4860700" y="4816625"/>
            <a:ext cx="3263700" cy="11214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FPGA </a:t>
            </a:r>
            <a:r>
              <a:rPr lang="en-US"/>
              <a:t>interface</a:t>
            </a:r>
            <a:endParaRPr/>
          </a:p>
        </p:txBody>
      </p:sp>
      <p:sp>
        <p:nvSpPr>
          <p:cNvPr id="284" name="Google Shape;284;p31"/>
          <p:cNvSpPr/>
          <p:nvPr/>
        </p:nvSpPr>
        <p:spPr>
          <a:xfrm>
            <a:off x="4060963" y="5203775"/>
            <a:ext cx="730500" cy="34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1"/>
          <p:cNvSpPr/>
          <p:nvPr/>
        </p:nvSpPr>
        <p:spPr>
          <a:xfrm>
            <a:off x="4929625" y="4892100"/>
            <a:ext cx="1568100" cy="572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SPI Module</a:t>
            </a:r>
            <a:endParaRPr sz="1300"/>
          </a:p>
        </p:txBody>
      </p:sp>
      <p:sp>
        <p:nvSpPr>
          <p:cNvPr id="286" name="Google Shape;286;p31"/>
          <p:cNvSpPr/>
          <p:nvPr/>
        </p:nvSpPr>
        <p:spPr>
          <a:xfrm>
            <a:off x="9099125" y="4851875"/>
            <a:ext cx="1172100" cy="10509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ESP32 </a:t>
            </a:r>
            <a:r>
              <a:rPr lang="en-US"/>
              <a:t>gets data for logging</a:t>
            </a:r>
            <a:endParaRPr/>
          </a:p>
        </p:txBody>
      </p:sp>
      <p:sp>
        <p:nvSpPr>
          <p:cNvPr id="287" name="Google Shape;287;p31"/>
          <p:cNvSpPr/>
          <p:nvPr/>
        </p:nvSpPr>
        <p:spPr>
          <a:xfrm>
            <a:off x="6647725" y="4892100"/>
            <a:ext cx="1357200" cy="572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Computation Module</a:t>
            </a:r>
            <a:endParaRPr sz="1300"/>
          </a:p>
        </p:txBody>
      </p:sp>
      <p:sp>
        <p:nvSpPr>
          <p:cNvPr id="288" name="Google Shape;288;p31"/>
          <p:cNvSpPr/>
          <p:nvPr/>
        </p:nvSpPr>
        <p:spPr>
          <a:xfrm>
            <a:off x="8207288" y="5203775"/>
            <a:ext cx="818400" cy="347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DADAD"/>
          </a:solidFill>
          <a:ln cap="flat" cmpd="sng" w="9525">
            <a:solidFill>
              <a:srgbClr val="303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Black-Scholes Equation</a:t>
            </a:r>
            <a:endParaRPr/>
          </a:p>
        </p:txBody>
      </p:sp>
      <p:sp>
        <p:nvSpPr>
          <p:cNvPr id="294" name="Google Shape;294;p32"/>
          <p:cNvSpPr txBox="1"/>
          <p:nvPr>
            <p:ph idx="12" type="sldNum"/>
          </p:nvPr>
        </p:nvSpPr>
        <p:spPr>
          <a:xfrm>
            <a:off x="10634663" y="6290433"/>
            <a:ext cx="110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32"/>
          <p:cNvSpPr txBox="1"/>
          <p:nvPr/>
        </p:nvSpPr>
        <p:spPr>
          <a:xfrm>
            <a:off x="495300" y="1412438"/>
            <a:ext cx="10300200" cy="28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Inputs: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Spot price (</a:t>
            </a:r>
            <a:r>
              <a:rPr b="1" lang="en-US" sz="1900">
                <a:solidFill>
                  <a:schemeClr val="dk1"/>
                </a:solidFill>
              </a:rPr>
              <a:t>S</a:t>
            </a:r>
            <a:r>
              <a:rPr b="1" baseline="-25000" lang="en-US" sz="1900">
                <a:solidFill>
                  <a:schemeClr val="dk1"/>
                </a:solidFill>
              </a:rPr>
              <a:t>t</a:t>
            </a:r>
            <a:r>
              <a:rPr lang="en-US" sz="1900">
                <a:solidFill>
                  <a:schemeClr val="dk1"/>
                </a:solidFill>
              </a:rPr>
              <a:t>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Strike price (</a:t>
            </a:r>
            <a:r>
              <a:rPr b="1" lang="en-US" sz="1900">
                <a:solidFill>
                  <a:schemeClr val="dk1"/>
                </a:solidFill>
              </a:rPr>
              <a:t>K</a:t>
            </a:r>
            <a:r>
              <a:rPr lang="en-US" sz="1900">
                <a:solidFill>
                  <a:schemeClr val="dk1"/>
                </a:solidFill>
              </a:rPr>
              <a:t>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Risk-free rate (</a:t>
            </a:r>
            <a:r>
              <a:rPr b="1" lang="en-US" sz="1900">
                <a:solidFill>
                  <a:schemeClr val="dk1"/>
                </a:solidFill>
              </a:rPr>
              <a:t>r</a:t>
            </a:r>
            <a:r>
              <a:rPr lang="en-US" sz="1900">
                <a:solidFill>
                  <a:schemeClr val="dk1"/>
                </a:solidFill>
              </a:rPr>
              <a:t>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Volatility (</a:t>
            </a:r>
            <a:r>
              <a:rPr b="1" lang="en-US" sz="1900">
                <a:solidFill>
                  <a:schemeClr val="dk1"/>
                </a:solidFill>
              </a:rPr>
              <a:t>σ</a:t>
            </a:r>
            <a:r>
              <a:rPr lang="en-US" sz="1900">
                <a:solidFill>
                  <a:schemeClr val="dk1"/>
                </a:solidFill>
              </a:rPr>
              <a:t>)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Time to maturity (</a:t>
            </a:r>
            <a:r>
              <a:rPr b="1" lang="en-US" sz="1900">
                <a:solidFill>
                  <a:schemeClr val="dk1"/>
                </a:solidFill>
              </a:rPr>
              <a:t>T</a:t>
            </a:r>
            <a:r>
              <a:rPr lang="en-US" sz="1900">
                <a:solidFill>
                  <a:schemeClr val="dk1"/>
                </a:solidFill>
              </a:rPr>
              <a:t>)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Outputs: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Call option price </a:t>
            </a:r>
            <a:r>
              <a:rPr lang="en-US" sz="1900">
                <a:solidFill>
                  <a:schemeClr val="dk1"/>
                </a:solidFill>
              </a:rPr>
              <a:t>(</a:t>
            </a:r>
            <a:r>
              <a:rPr b="1" lang="en-US" sz="1900">
                <a:solidFill>
                  <a:schemeClr val="dk1"/>
                </a:solidFill>
              </a:rPr>
              <a:t>C</a:t>
            </a:r>
            <a:r>
              <a:rPr lang="en-US" sz="1900">
                <a:solidFill>
                  <a:schemeClr val="dk1"/>
                </a:solidFill>
              </a:rPr>
              <a:t>)</a:t>
            </a:r>
            <a:br>
              <a:rPr b="1" lang="en-US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96" name="Google Shape;2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100" y="1714502"/>
            <a:ext cx="6137300" cy="206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2"/>
          <p:cNvSpPr txBox="1"/>
          <p:nvPr/>
        </p:nvSpPr>
        <p:spPr>
          <a:xfrm>
            <a:off x="5143188" y="4325725"/>
            <a:ext cx="5471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202122"/>
                </a:solidFill>
                <a:highlight>
                  <a:srgbClr val="FFFFFF"/>
                </a:highlight>
              </a:rPr>
              <a:t>“</a:t>
            </a:r>
            <a:r>
              <a:rPr b="1" lang="en-US">
                <a:solidFill>
                  <a:srgbClr val="202122"/>
                </a:solidFill>
                <a:highlight>
                  <a:srgbClr val="FFFFFF"/>
                </a:highlight>
              </a:rPr>
              <a:t>gives a theoretical estimate of the price of European-style options and shows that the option has a </a:t>
            </a:r>
            <a:r>
              <a:rPr b="1" i="1" lang="en-US">
                <a:solidFill>
                  <a:srgbClr val="202122"/>
                </a:solidFill>
                <a:highlight>
                  <a:srgbClr val="FFFFFF"/>
                </a:highlight>
              </a:rPr>
              <a:t>unique</a:t>
            </a:r>
            <a:r>
              <a:rPr b="1" lang="en-US">
                <a:solidFill>
                  <a:srgbClr val="202122"/>
                </a:solidFill>
                <a:highlight>
                  <a:srgbClr val="FFFFFF"/>
                </a:highlight>
              </a:rPr>
              <a:t> price given the risk of the security and its expected return” - https://en.wikipedia.org/wiki/Black%E2%80%93Scholes_model</a:t>
            </a:r>
            <a:endParaRPr b="1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3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FPGA RTL</a:t>
            </a:r>
            <a:endParaRPr/>
          </a:p>
        </p:txBody>
      </p:sp>
      <p:sp>
        <p:nvSpPr>
          <p:cNvPr id="304" name="Google Shape;304;p33"/>
          <p:cNvSpPr txBox="1"/>
          <p:nvPr/>
        </p:nvSpPr>
        <p:spPr>
          <a:xfrm>
            <a:off x="548650" y="1256575"/>
            <a:ext cx="11043600" cy="26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RTL </a:t>
            </a:r>
            <a:r>
              <a:rPr lang="en-US" sz="1900">
                <a:solidFill>
                  <a:schemeClr val="dk1"/>
                </a:solidFill>
              </a:rPr>
              <a:t>Describes </a:t>
            </a:r>
            <a:r>
              <a:rPr b="1" lang="en-US" sz="1900">
                <a:solidFill>
                  <a:schemeClr val="dk1"/>
                </a:solidFill>
              </a:rPr>
              <a:t>how data flows</a:t>
            </a:r>
            <a:r>
              <a:rPr lang="en-US" sz="1900">
                <a:solidFill>
                  <a:schemeClr val="dk1"/>
                </a:solidFill>
              </a:rPr>
              <a:t> between </a:t>
            </a:r>
            <a:r>
              <a:rPr b="1" lang="en-US" sz="1900">
                <a:solidFill>
                  <a:schemeClr val="dk1"/>
                </a:solidFill>
              </a:rPr>
              <a:t>registers</a:t>
            </a:r>
            <a:r>
              <a:rPr lang="en-US" sz="1900">
                <a:solidFill>
                  <a:schemeClr val="dk1"/>
                </a:solidFill>
              </a:rPr>
              <a:t> and the </a:t>
            </a:r>
            <a:r>
              <a:rPr b="1" lang="en-US" sz="1900">
                <a:solidFill>
                  <a:schemeClr val="dk1"/>
                </a:solidFill>
              </a:rPr>
              <a:t>combinational logic</a:t>
            </a:r>
            <a:r>
              <a:rPr lang="en-US" sz="1900">
                <a:solidFill>
                  <a:schemeClr val="dk1"/>
                </a:solidFill>
              </a:rPr>
              <a:t> that processes it.</a:t>
            </a:r>
            <a:br>
              <a:rPr lang="en-US" sz="1900">
                <a:solidFill>
                  <a:schemeClr val="dk1"/>
                </a:solidFill>
              </a:rPr>
            </a:br>
            <a:r>
              <a:rPr lang="en-US" sz="1900">
                <a:solidFill>
                  <a:schemeClr val="dk1"/>
                </a:solidFill>
              </a:rPr>
              <a:t> Specifies: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Data operations</a:t>
            </a:r>
            <a:r>
              <a:rPr lang="en-US" sz="1900">
                <a:solidFill>
                  <a:schemeClr val="dk1"/>
                </a:solidFill>
              </a:rPr>
              <a:t> (add, multiply, divide, etc.)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Control flow</a:t>
            </a:r>
            <a:r>
              <a:rPr lang="en-US" sz="1900">
                <a:solidFill>
                  <a:schemeClr val="dk1"/>
                </a:solidFill>
              </a:rPr>
              <a:t> (if, case, etc.)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Timing</a:t>
            </a:r>
            <a:r>
              <a:rPr lang="en-US" sz="1900">
                <a:solidFill>
                  <a:schemeClr val="dk1"/>
                </a:solidFill>
              </a:rPr>
              <a:t> (clocked or combinational)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305" name="Google Shape;305;p33"/>
          <p:cNvSpPr/>
          <p:nvPr/>
        </p:nvSpPr>
        <p:spPr>
          <a:xfrm>
            <a:off x="1318550" y="4678525"/>
            <a:ext cx="2185800" cy="5889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RTL Code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(System Verilog)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6" name="Google Shape;306;p33"/>
          <p:cNvSpPr/>
          <p:nvPr/>
        </p:nvSpPr>
        <p:spPr>
          <a:xfrm>
            <a:off x="4231825" y="4678525"/>
            <a:ext cx="2185800" cy="588900"/>
          </a:xfrm>
          <a:prstGeom prst="roundRect">
            <a:avLst>
              <a:gd fmla="val 16667" name="adj"/>
            </a:avLst>
          </a:prstGeom>
          <a:solidFill>
            <a:srgbClr val="4A86E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Logic Synthesis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307" name="Google Shape;307;p33"/>
          <p:cNvSpPr/>
          <p:nvPr/>
        </p:nvSpPr>
        <p:spPr>
          <a:xfrm>
            <a:off x="6897350" y="3790525"/>
            <a:ext cx="2185800" cy="588900"/>
          </a:xfrm>
          <a:prstGeom prst="roundRect">
            <a:avLst>
              <a:gd fmla="val 16667" name="adj"/>
            </a:avLst>
          </a:prstGeom>
          <a:solidFill>
            <a:srgbClr val="ADFFB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LUTs</a:t>
            </a:r>
            <a:endParaRPr/>
          </a:p>
        </p:txBody>
      </p:sp>
      <p:sp>
        <p:nvSpPr>
          <p:cNvPr id="308" name="Google Shape;308;p33"/>
          <p:cNvSpPr/>
          <p:nvPr/>
        </p:nvSpPr>
        <p:spPr>
          <a:xfrm>
            <a:off x="6897350" y="4678525"/>
            <a:ext cx="2185800" cy="588900"/>
          </a:xfrm>
          <a:prstGeom prst="roundRect">
            <a:avLst>
              <a:gd fmla="val 16667" name="adj"/>
            </a:avLst>
          </a:prstGeom>
          <a:solidFill>
            <a:srgbClr val="ADFFB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DSPs</a:t>
            </a:r>
            <a:endParaRPr/>
          </a:p>
        </p:txBody>
      </p:sp>
      <p:sp>
        <p:nvSpPr>
          <p:cNvPr id="309" name="Google Shape;309;p33"/>
          <p:cNvSpPr/>
          <p:nvPr/>
        </p:nvSpPr>
        <p:spPr>
          <a:xfrm>
            <a:off x="6897350" y="5566525"/>
            <a:ext cx="2185800" cy="588900"/>
          </a:xfrm>
          <a:prstGeom prst="roundRect">
            <a:avLst>
              <a:gd fmla="val 16667" name="adj"/>
            </a:avLst>
          </a:prstGeom>
          <a:solidFill>
            <a:srgbClr val="ADFFB6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Flip-flops</a:t>
            </a:r>
            <a:endParaRPr/>
          </a:p>
        </p:txBody>
      </p:sp>
      <p:sp>
        <p:nvSpPr>
          <p:cNvPr id="310" name="Google Shape;310;p33"/>
          <p:cNvSpPr/>
          <p:nvPr/>
        </p:nvSpPr>
        <p:spPr>
          <a:xfrm>
            <a:off x="9642525" y="4678525"/>
            <a:ext cx="2185800" cy="5889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FPGA Fabric</a:t>
            </a:r>
            <a:endParaRPr/>
          </a:p>
        </p:txBody>
      </p:sp>
      <p:cxnSp>
        <p:nvCxnSpPr>
          <p:cNvPr id="311" name="Google Shape;311;p33"/>
          <p:cNvCxnSpPr>
            <a:stCxn id="305" idx="3"/>
            <a:endCxn id="306" idx="1"/>
          </p:cNvCxnSpPr>
          <p:nvPr/>
        </p:nvCxnSpPr>
        <p:spPr>
          <a:xfrm>
            <a:off x="3504350" y="4972975"/>
            <a:ext cx="727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2" name="Google Shape;312;p33"/>
          <p:cNvCxnSpPr>
            <a:stCxn id="306" idx="3"/>
            <a:endCxn id="308" idx="1"/>
          </p:cNvCxnSpPr>
          <p:nvPr/>
        </p:nvCxnSpPr>
        <p:spPr>
          <a:xfrm>
            <a:off x="6417625" y="4972975"/>
            <a:ext cx="47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3" name="Google Shape;313;p33"/>
          <p:cNvCxnSpPr>
            <a:stCxn id="306" idx="3"/>
            <a:endCxn id="307" idx="1"/>
          </p:cNvCxnSpPr>
          <p:nvPr/>
        </p:nvCxnSpPr>
        <p:spPr>
          <a:xfrm flipH="1" rot="10800000">
            <a:off x="6417625" y="4084975"/>
            <a:ext cx="479700" cy="8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4" name="Google Shape;314;p33"/>
          <p:cNvCxnSpPr>
            <a:stCxn id="306" idx="3"/>
            <a:endCxn id="309" idx="1"/>
          </p:cNvCxnSpPr>
          <p:nvPr/>
        </p:nvCxnSpPr>
        <p:spPr>
          <a:xfrm>
            <a:off x="6417625" y="4972975"/>
            <a:ext cx="479700" cy="88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5" name="Google Shape;315;p33"/>
          <p:cNvCxnSpPr>
            <a:stCxn id="308" idx="3"/>
            <a:endCxn id="310" idx="1"/>
          </p:cNvCxnSpPr>
          <p:nvPr/>
        </p:nvCxnSpPr>
        <p:spPr>
          <a:xfrm>
            <a:off x="9083150" y="4972975"/>
            <a:ext cx="559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Current Progress</a:t>
            </a:r>
            <a:endParaRPr/>
          </a:p>
        </p:txBody>
      </p:sp>
      <p:sp>
        <p:nvSpPr>
          <p:cNvPr id="321" name="Google Shape;321;p34"/>
          <p:cNvSpPr txBox="1"/>
          <p:nvPr>
            <p:ph idx="12" type="sldNum"/>
          </p:nvPr>
        </p:nvSpPr>
        <p:spPr>
          <a:xfrm>
            <a:off x="10634663" y="6290433"/>
            <a:ext cx="110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34"/>
          <p:cNvSpPr txBox="1"/>
          <p:nvPr/>
        </p:nvSpPr>
        <p:spPr>
          <a:xfrm>
            <a:off x="562500" y="1179275"/>
            <a:ext cx="110670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Completed WiFi provisioning for getting the system connected to the internet.</a:t>
            </a:r>
            <a:endParaRPr b="1"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Wrote external API calls for Alpha Vantage, Polygon, FMP, FINNHUB, TIINGO, and FRED</a:t>
            </a:r>
            <a:endParaRPr b="1"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Finished benchmarking locally on ESP32</a:t>
            </a:r>
            <a:endParaRPr b="1"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Completed hex lookup table and RTL for Normal CDF module, simulated and verified</a:t>
            </a:r>
            <a:endParaRPr b="1"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b="1" lang="en-US" sz="1900"/>
              <a:t>Completed modules for fixed point addition, subtraction, other functions using lookup tables.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Current Progress</a:t>
            </a:r>
            <a:endParaRPr/>
          </a:p>
        </p:txBody>
      </p:sp>
      <p:sp>
        <p:nvSpPr>
          <p:cNvPr id="328" name="Google Shape;328;p35"/>
          <p:cNvSpPr txBox="1"/>
          <p:nvPr>
            <p:ph idx="12" type="sldNum"/>
          </p:nvPr>
        </p:nvSpPr>
        <p:spPr>
          <a:xfrm>
            <a:off x="10634663" y="6290433"/>
            <a:ext cx="110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35"/>
          <p:cNvSpPr txBox="1"/>
          <p:nvPr/>
        </p:nvSpPr>
        <p:spPr>
          <a:xfrm>
            <a:off x="574525" y="1099275"/>
            <a:ext cx="5125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Local ESP32 Benchmark</a:t>
            </a:r>
            <a:endParaRPr b="1" sz="2000">
              <a:solidFill>
                <a:schemeClr val="dk1"/>
              </a:solidFill>
            </a:endParaRPr>
          </a:p>
        </p:txBody>
      </p:sp>
      <p:graphicFrame>
        <p:nvGraphicFramePr>
          <p:cNvPr id="330" name="Google Shape;330;p35"/>
          <p:cNvGraphicFramePr/>
          <p:nvPr/>
        </p:nvGraphicFramePr>
        <p:xfrm>
          <a:off x="969800" y="1813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{E350563F-FA20-4914-BAE5-F9058F915887}</a:tableStyleId>
              </a:tblPr>
              <a:tblGrid>
                <a:gridCol w="2050475"/>
                <a:gridCol w="2050475"/>
                <a:gridCol w="2050475"/>
                <a:gridCol w="2050475"/>
                <a:gridCol w="2050475"/>
              </a:tblGrid>
              <a:tr h="11488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d2 (assuming d1 is already computed)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Normal CDF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Trial 1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417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75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277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668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Trial 2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127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65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263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377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Trial 3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128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69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83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341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665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Average</a:t>
                      </a:r>
                      <a:endParaRPr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284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69.67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209.67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>
                          <a:latin typeface="Arial"/>
                          <a:ea typeface="Arial"/>
                          <a:cs typeface="Arial"/>
                          <a:sym typeface="Arial"/>
                        </a:rPr>
                        <a:t>462 us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Current Progress</a:t>
            </a:r>
            <a:endParaRPr/>
          </a:p>
        </p:txBody>
      </p:sp>
      <p:sp>
        <p:nvSpPr>
          <p:cNvPr id="336" name="Google Shape;336;p36"/>
          <p:cNvSpPr txBox="1"/>
          <p:nvPr>
            <p:ph idx="12" type="sldNum"/>
          </p:nvPr>
        </p:nvSpPr>
        <p:spPr>
          <a:xfrm>
            <a:off x="10634663" y="6290433"/>
            <a:ext cx="110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36"/>
          <p:cNvSpPr txBox="1"/>
          <p:nvPr/>
        </p:nvSpPr>
        <p:spPr>
          <a:xfrm>
            <a:off x="574525" y="1099275"/>
            <a:ext cx="5125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Development RTL (norm_cdf.sv)</a:t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338" name="Google Shape;338;p36" title="cf2caa8d-36c7-4b4a-853b-568b3cc244d2.JPG"/>
          <p:cNvPicPr preferRelativeResize="0"/>
          <p:nvPr/>
        </p:nvPicPr>
        <p:blipFill rotWithShape="1">
          <a:blip r:embed="rId3">
            <a:alphaModFix/>
          </a:blip>
          <a:srcRect b="0" l="0" r="30536" t="0"/>
          <a:stretch/>
        </p:blipFill>
        <p:spPr>
          <a:xfrm>
            <a:off x="739625" y="1813550"/>
            <a:ext cx="4473127" cy="3620426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9" name="Google Shape;339;p36" title="b18341b9-1b81-4f1d-9146-33efb650c656.JPG"/>
          <p:cNvPicPr preferRelativeResize="0"/>
          <p:nvPr/>
        </p:nvPicPr>
        <p:blipFill rotWithShape="1">
          <a:blip r:embed="rId4">
            <a:alphaModFix/>
          </a:blip>
          <a:srcRect b="0" l="21935" r="0" t="5150"/>
          <a:stretch/>
        </p:blipFill>
        <p:spPr>
          <a:xfrm>
            <a:off x="5918200" y="1787513"/>
            <a:ext cx="5400371" cy="3689312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type="title"/>
          </p:nvPr>
        </p:nvSpPr>
        <p:spPr>
          <a:xfrm>
            <a:off x="468086" y="385004"/>
            <a:ext cx="1126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Roadblocks and Roadmap</a:t>
            </a:r>
            <a:endParaRPr/>
          </a:p>
        </p:txBody>
      </p:sp>
      <p:sp>
        <p:nvSpPr>
          <p:cNvPr id="345" name="Google Shape;345;p37"/>
          <p:cNvSpPr txBox="1"/>
          <p:nvPr>
            <p:ph idx="12" type="sldNum"/>
          </p:nvPr>
        </p:nvSpPr>
        <p:spPr>
          <a:xfrm>
            <a:off x="10634663" y="6290433"/>
            <a:ext cx="11001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37"/>
          <p:cNvSpPr txBox="1"/>
          <p:nvPr/>
        </p:nvSpPr>
        <p:spPr>
          <a:xfrm>
            <a:off x="562500" y="1203325"/>
            <a:ext cx="11067000" cy="5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Roadblocks</a:t>
            </a:r>
            <a:endParaRPr b="1"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US" sz="1700"/>
              <a:t>The external API is </a:t>
            </a:r>
            <a:r>
              <a:rPr b="1" lang="en-US" sz="1700"/>
              <a:t>written and functional, but there is too large of a delay in calling pricing data.</a:t>
            </a:r>
            <a:endParaRPr b="1"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US" sz="1700"/>
              <a:t>The number of API calls that can be made in a day are far too low, making live tracking infeasible.</a:t>
            </a:r>
            <a:endParaRPr b="1" sz="17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Roadmap</a:t>
            </a:r>
            <a:endParaRPr b="1"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US" sz="1700"/>
              <a:t>Integration and Synthesis of Aggregate Black-Scholes Computation</a:t>
            </a:r>
            <a:endParaRPr b="1"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-US" sz="1700"/>
              <a:t>We need to finish testing the mathematical operation blocks to ensure functionality and synthesizability, and integrate them in a top module.</a:t>
            </a:r>
            <a:endParaRPr b="1"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-US" sz="1700"/>
              <a:t>All SPI communication</a:t>
            </a:r>
            <a:endParaRPr b="1"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b="1" lang="en-US" sz="1700"/>
              <a:t>There may not be enough time to finish the SPI functionality of the project. In this case, we will focus on the Black-Scholes Computation and doing an in-depth analysis on the timing differences and speedup </a:t>
            </a:r>
            <a:r>
              <a:rPr b="1" lang="en-US" sz="1700"/>
              <a:t>achieved</a:t>
            </a:r>
            <a:r>
              <a:rPr b="1" lang="en-US" sz="1700"/>
              <a:t> by switching to an FPGA solution from an embedded system.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8"/>
          <p:cNvSpPr txBox="1"/>
          <p:nvPr>
            <p:ph type="title"/>
          </p:nvPr>
        </p:nvSpPr>
        <p:spPr>
          <a:xfrm>
            <a:off x="805070" y="2466280"/>
            <a:ext cx="7981645" cy="7197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